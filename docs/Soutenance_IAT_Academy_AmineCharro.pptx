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E08D1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754880"/>
            <a:ext cx="5029200" cy="5029200"/>
          </a:xfrm>
          <a:prstGeom prst="ellipse">
            <a:avLst/>
          </a:prstGeom>
          <a:solidFill>
            <a:srgbClr val="E08D1B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457200"/>
            <a:ext cx="926561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pic>
        <p:nvPicPr>
          <p:cNvPr id="5" name="Image 0" descr="C:\Users\amine\AppData\Local\Temp\claude\D--stockage-emsi-4eme-Stage-E-learning\c3e9852d-391c-41a7-a591-9373ab8db47f\scratchpad\pptx-build\assets\em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726948"/>
            <a:ext cx="1736770" cy="420624"/>
          </a:xfrm>
          <a:prstGeom prst="rect">
            <a:avLst/>
          </a:prstGeom>
        </p:spPr>
      </p:pic>
      <p:pic>
        <p:nvPicPr>
          <p:cNvPr id="6" name="Image 1" descr="C:\Users\amine\AppData\Local\Temp\claude\D--stockage-emsi-4eme-Stage-E-learning\c3e9852d-391c-41a7-a591-9373ab8db47f\scratchpad\pptx-build\assets\logo_i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6069" y="608076"/>
            <a:ext cx="871106" cy="6583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5848" y="594360"/>
            <a:ext cx="0" cy="685800"/>
          </a:xfrm>
          <a:prstGeom prst="line">
            <a:avLst/>
          </a:prstGeom>
          <a:noFill/>
          <a:ln w="12700">
            <a:solidFill>
              <a:srgbClr val="D4DEE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0" y="175564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C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D'ÉTUDES  ·  SOUTENANCE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97280" y="2121408"/>
            <a:ext cx="9997135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développement d'une solution e-learning dédiée aux métiers de l'aviation, de l'accueil et du tourisme pour IAT Academy</a:t>
            </a:r>
            <a:endParaRPr lang="en-US" sz="2500" dirty="0"/>
          </a:p>
        </p:txBody>
      </p:sp>
      <p:sp>
        <p:nvSpPr>
          <p:cNvPr id="10" name="Shape 6"/>
          <p:cNvSpPr/>
          <p:nvPr/>
        </p:nvSpPr>
        <p:spPr>
          <a:xfrm>
            <a:off x="914400" y="3931920"/>
            <a:ext cx="6903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927848" y="3931920"/>
            <a:ext cx="3349447" cy="2148840"/>
          </a:xfrm>
          <a:prstGeom prst="roundRect">
            <a:avLst>
              <a:gd name="adj" fmla="val 4255"/>
            </a:avLst>
          </a:prstGeom>
          <a:solidFill>
            <a:srgbClr val="E8EEF6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298448" y="4133088"/>
            <a:ext cx="6135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298448" y="4352544"/>
            <a:ext cx="6135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Charro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1298448" y="4754880"/>
            <a:ext cx="6135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Digital et Systèmes d'Information · 4ᵉ année · EMSI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298448" y="5120640"/>
            <a:ext cx="29763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ENCADRANTE ACADÉMIQUE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298448" y="5294376"/>
            <a:ext cx="29763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Mme. El Amrani Nora (EMSI)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457700" y="5120640"/>
            <a:ext cx="29763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PROFESSIONNEL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457700" y="5294376"/>
            <a:ext cx="29763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compléter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298448" y="5577840"/>
            <a:ext cx="29763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ORGANISME D'ACCUEIL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298448" y="5751576"/>
            <a:ext cx="29763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Academy, Casablanca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7927848" y="4133088"/>
            <a:ext cx="334944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DE STAGE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927848" y="4315968"/>
            <a:ext cx="334944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400" dirty="0"/>
          </a:p>
        </p:txBody>
      </p:sp>
      <p:sp>
        <p:nvSpPr>
          <p:cNvPr id="23" name="Text 19"/>
          <p:cNvSpPr/>
          <p:nvPr/>
        </p:nvSpPr>
        <p:spPr>
          <a:xfrm>
            <a:off x="7927848" y="4846320"/>
            <a:ext cx="334944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7927848" y="5120640"/>
            <a:ext cx="334944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01/07 → 31/08/2026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8916772" y="5696712"/>
            <a:ext cx="41148" cy="219456"/>
          </a:xfrm>
          <a:prstGeom prst="rect">
            <a:avLst/>
          </a:prstGeom>
          <a:solidFill>
            <a:srgbClr val="24446F"/>
          </a:solidFill>
          <a:ln/>
        </p:spPr>
      </p:sp>
      <p:sp>
        <p:nvSpPr>
          <p:cNvPr id="26" name="Shape 22"/>
          <p:cNvSpPr/>
          <p:nvPr/>
        </p:nvSpPr>
        <p:spPr>
          <a:xfrm>
            <a:off x="8989924" y="5696712"/>
            <a:ext cx="18288" cy="219456"/>
          </a:xfrm>
          <a:prstGeom prst="rect">
            <a:avLst/>
          </a:prstGeom>
          <a:solidFill>
            <a:srgbClr val="24446F"/>
          </a:solidFill>
          <a:ln/>
        </p:spPr>
      </p:sp>
      <p:sp>
        <p:nvSpPr>
          <p:cNvPr id="27" name="Shape 23"/>
          <p:cNvSpPr/>
          <p:nvPr/>
        </p:nvSpPr>
        <p:spPr>
          <a:xfrm>
            <a:off x="9040216" y="5696712"/>
            <a:ext cx="18288" cy="219456"/>
          </a:xfrm>
          <a:prstGeom prst="rect">
            <a:avLst/>
          </a:prstGeom>
          <a:solidFill>
            <a:srgbClr val="24446F"/>
          </a:solidFill>
          <a:ln/>
        </p:spPr>
      </p:sp>
      <p:sp>
        <p:nvSpPr>
          <p:cNvPr id="28" name="Shape 24"/>
          <p:cNvSpPr/>
          <p:nvPr/>
        </p:nvSpPr>
        <p:spPr>
          <a:xfrm>
            <a:off x="9090508" y="5696712"/>
            <a:ext cx="41148" cy="219456"/>
          </a:xfrm>
          <a:prstGeom prst="rect">
            <a:avLst/>
          </a:prstGeom>
          <a:solidFill>
            <a:srgbClr val="24446F"/>
          </a:solidFill>
          <a:ln/>
        </p:spPr>
      </p:sp>
      <p:sp>
        <p:nvSpPr>
          <p:cNvPr id="29" name="Shape 25"/>
          <p:cNvSpPr/>
          <p:nvPr/>
        </p:nvSpPr>
        <p:spPr>
          <a:xfrm>
            <a:off x="9163660" y="5696712"/>
            <a:ext cx="18288" cy="219456"/>
          </a:xfrm>
          <a:prstGeom prst="rect">
            <a:avLst/>
          </a:prstGeom>
          <a:solidFill>
            <a:srgbClr val="24446F"/>
          </a:solidFill>
          <a:ln/>
        </p:spPr>
      </p:sp>
      <p:sp>
        <p:nvSpPr>
          <p:cNvPr id="30" name="Shape 26"/>
          <p:cNvSpPr/>
          <p:nvPr/>
        </p:nvSpPr>
        <p:spPr>
          <a:xfrm>
            <a:off x="9213952" y="5696712"/>
            <a:ext cx="18288" cy="219456"/>
          </a:xfrm>
          <a:prstGeom prst="rect">
            <a:avLst/>
          </a:prstGeom>
          <a:solidFill>
            <a:srgbClr val="24446F"/>
          </a:solidFill>
          <a:ln/>
        </p:spPr>
      </p:sp>
      <p:sp>
        <p:nvSpPr>
          <p:cNvPr id="31" name="Shape 27"/>
          <p:cNvSpPr/>
          <p:nvPr/>
        </p:nvSpPr>
        <p:spPr>
          <a:xfrm>
            <a:off x="9264244" y="5696712"/>
            <a:ext cx="41148" cy="219456"/>
          </a:xfrm>
          <a:prstGeom prst="rect">
            <a:avLst/>
          </a:prstGeom>
          <a:solidFill>
            <a:srgbClr val="24446F"/>
          </a:solidFill>
          <a:ln/>
        </p:spPr>
      </p:sp>
      <p:sp>
        <p:nvSpPr>
          <p:cNvPr id="32" name="Shape 28"/>
          <p:cNvSpPr/>
          <p:nvPr/>
        </p:nvSpPr>
        <p:spPr>
          <a:xfrm>
            <a:off x="9337396" y="5696712"/>
            <a:ext cx="18288" cy="219456"/>
          </a:xfrm>
          <a:prstGeom prst="rect">
            <a:avLst/>
          </a:prstGeom>
          <a:solidFill>
            <a:srgbClr val="24446F"/>
          </a:solidFill>
          <a:ln/>
        </p:spPr>
      </p:sp>
      <p:sp>
        <p:nvSpPr>
          <p:cNvPr id="33" name="Shape 29"/>
          <p:cNvSpPr/>
          <p:nvPr/>
        </p:nvSpPr>
        <p:spPr>
          <a:xfrm>
            <a:off x="9387688" y="5696712"/>
            <a:ext cx="18288" cy="219456"/>
          </a:xfrm>
          <a:prstGeom prst="rect">
            <a:avLst/>
          </a:prstGeom>
          <a:solidFill>
            <a:srgbClr val="24446F"/>
          </a:solidFill>
          <a:ln/>
        </p:spPr>
      </p:sp>
      <p:sp>
        <p:nvSpPr>
          <p:cNvPr id="34" name="Shape 30"/>
          <p:cNvSpPr/>
          <p:nvPr/>
        </p:nvSpPr>
        <p:spPr>
          <a:xfrm>
            <a:off x="9437980" y="5696712"/>
            <a:ext cx="41148" cy="219456"/>
          </a:xfrm>
          <a:prstGeom prst="rect">
            <a:avLst/>
          </a:prstGeom>
          <a:solidFill>
            <a:srgbClr val="24446F"/>
          </a:solidFill>
          <a:ln/>
        </p:spPr>
      </p:sp>
      <p:sp>
        <p:nvSpPr>
          <p:cNvPr id="35" name="Shape 31"/>
          <p:cNvSpPr/>
          <p:nvPr/>
        </p:nvSpPr>
        <p:spPr>
          <a:xfrm>
            <a:off x="9511132" y="5696712"/>
            <a:ext cx="18288" cy="219456"/>
          </a:xfrm>
          <a:prstGeom prst="rect">
            <a:avLst/>
          </a:prstGeom>
          <a:solidFill>
            <a:srgbClr val="24446F"/>
          </a:solidFill>
          <a:ln/>
        </p:spPr>
      </p:sp>
      <p:sp>
        <p:nvSpPr>
          <p:cNvPr id="36" name="Shape 32"/>
          <p:cNvSpPr/>
          <p:nvPr/>
        </p:nvSpPr>
        <p:spPr>
          <a:xfrm>
            <a:off x="9561424" y="5696712"/>
            <a:ext cx="18288" cy="219456"/>
          </a:xfrm>
          <a:prstGeom prst="rect">
            <a:avLst/>
          </a:prstGeom>
          <a:solidFill>
            <a:srgbClr val="24446F"/>
          </a:solidFill>
          <a:ln/>
        </p:spPr>
      </p:sp>
      <p:sp>
        <p:nvSpPr>
          <p:cNvPr id="37" name="Shape 33"/>
          <p:cNvSpPr/>
          <p:nvPr/>
        </p:nvSpPr>
        <p:spPr>
          <a:xfrm>
            <a:off x="9611716" y="5696712"/>
            <a:ext cx="41148" cy="219456"/>
          </a:xfrm>
          <a:prstGeom prst="rect">
            <a:avLst/>
          </a:prstGeom>
          <a:solidFill>
            <a:srgbClr val="24446F"/>
          </a:solidFill>
          <a:ln/>
        </p:spPr>
      </p:sp>
      <p:sp>
        <p:nvSpPr>
          <p:cNvPr id="38" name="Shape 34"/>
          <p:cNvSpPr/>
          <p:nvPr/>
        </p:nvSpPr>
        <p:spPr>
          <a:xfrm>
            <a:off x="9684868" y="5696712"/>
            <a:ext cx="18288" cy="219456"/>
          </a:xfrm>
          <a:prstGeom prst="rect">
            <a:avLst/>
          </a:prstGeom>
          <a:solidFill>
            <a:srgbClr val="24446F"/>
          </a:solidFill>
          <a:ln/>
        </p:spPr>
      </p:sp>
      <p:sp>
        <p:nvSpPr>
          <p:cNvPr id="39" name="Shape 35"/>
          <p:cNvSpPr/>
          <p:nvPr/>
        </p:nvSpPr>
        <p:spPr>
          <a:xfrm>
            <a:off x="9735160" y="5696712"/>
            <a:ext cx="18288" cy="219456"/>
          </a:xfrm>
          <a:prstGeom prst="rect">
            <a:avLst/>
          </a:prstGeom>
          <a:solidFill>
            <a:srgbClr val="24446F"/>
          </a:solidFill>
          <a:ln/>
        </p:spPr>
      </p:sp>
      <p:sp>
        <p:nvSpPr>
          <p:cNvPr id="40" name="Shape 36"/>
          <p:cNvSpPr/>
          <p:nvPr/>
        </p:nvSpPr>
        <p:spPr>
          <a:xfrm>
            <a:off x="9785452" y="5696712"/>
            <a:ext cx="41148" cy="219456"/>
          </a:xfrm>
          <a:prstGeom prst="rect">
            <a:avLst/>
          </a:prstGeom>
          <a:solidFill>
            <a:srgbClr val="24446F"/>
          </a:solidFill>
          <a:ln/>
        </p:spPr>
      </p:sp>
      <p:sp>
        <p:nvSpPr>
          <p:cNvPr id="41" name="Text 37"/>
          <p:cNvSpPr/>
          <p:nvPr/>
        </p:nvSpPr>
        <p:spPr>
          <a:xfrm>
            <a:off x="0" y="6272784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Organisme d'accueil : IAT Academy, Casablanca   ·   Année universitaire 2025 –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CONTEXTE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Academy, l'organisme d'accueil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de formation spécialisé dans les métiers de l'aviation, de l'accueil et du tourisme, basé à Casablanca.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852928"/>
            <a:ext cx="274320" cy="27432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88920"/>
            <a:ext cx="5550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Cursus professionnel de 2 ans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3054096"/>
            <a:ext cx="55504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exigence d'employabilité immédiate des lauréats à la sortie du cycle complet.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767328"/>
            <a:ext cx="274320" cy="27432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703320"/>
            <a:ext cx="5550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pédagogie tournée vers le terrain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3968496"/>
            <a:ext cx="55504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construits en lien direct avec les standards professionnels du secteur aéroportuaire et touristique.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681728"/>
            <a:ext cx="274320" cy="27432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617720"/>
            <a:ext cx="5550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du stage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4882896"/>
            <a:ext cx="55504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confiée en lien direct avec l'équipe pédagogique de l'organisme d'accueil.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59168" y="1737360"/>
            <a:ext cx="4565599" cy="4160520"/>
          </a:xfrm>
          <a:prstGeom prst="roundRect">
            <a:avLst>
              <a:gd name="adj" fmla="val 2637"/>
            </a:avLst>
          </a:prstGeom>
          <a:solidFill>
            <a:srgbClr val="142B4B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79208" y="1874520"/>
            <a:ext cx="39255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C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MÉTIERS PRÉPARÉS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79208" y="2331720"/>
            <a:ext cx="1848460" cy="1417320"/>
          </a:xfrm>
          <a:prstGeom prst="roundRect">
            <a:avLst>
              <a:gd name="adj" fmla="val 6452"/>
            </a:avLst>
          </a:prstGeom>
          <a:solidFill>
            <a:srgbClr val="24446F"/>
          </a:solidFill>
          <a:ln/>
        </p:spPr>
      </p:sp>
      <p:sp>
        <p:nvSpPr>
          <p:cNvPr id="19" name="Shape 17"/>
          <p:cNvSpPr/>
          <p:nvPr/>
        </p:nvSpPr>
        <p:spPr>
          <a:xfrm>
            <a:off x="7580376" y="2532888"/>
            <a:ext cx="384048" cy="384048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0" name="Text 18"/>
          <p:cNvSpPr/>
          <p:nvPr/>
        </p:nvSpPr>
        <p:spPr>
          <a:xfrm>
            <a:off x="7580376" y="2532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62088" y="3044952"/>
            <a:ext cx="14827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Navigant Commercial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456268" y="2331720"/>
            <a:ext cx="1848460" cy="1417320"/>
          </a:xfrm>
          <a:prstGeom prst="roundRect">
            <a:avLst>
              <a:gd name="adj" fmla="val 6452"/>
            </a:avLst>
          </a:prstGeom>
          <a:solidFill>
            <a:srgbClr val="24446F"/>
          </a:solidFill>
          <a:ln/>
        </p:spPr>
      </p:sp>
      <p:sp>
        <p:nvSpPr>
          <p:cNvPr id="23" name="Shape 21"/>
          <p:cNvSpPr/>
          <p:nvPr/>
        </p:nvSpPr>
        <p:spPr>
          <a:xfrm>
            <a:off x="9657436" y="2532888"/>
            <a:ext cx="384048" cy="384048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4" name="Text 22"/>
          <p:cNvSpPr/>
          <p:nvPr/>
        </p:nvSpPr>
        <p:spPr>
          <a:xfrm>
            <a:off x="9657436" y="2532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39148" y="3044952"/>
            <a:ext cx="14827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d'escale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79208" y="3977640"/>
            <a:ext cx="1848460" cy="1417320"/>
          </a:xfrm>
          <a:prstGeom prst="roundRect">
            <a:avLst>
              <a:gd name="adj" fmla="val 6452"/>
            </a:avLst>
          </a:prstGeom>
          <a:solidFill>
            <a:srgbClr val="24446F"/>
          </a:solidFill>
          <a:ln/>
        </p:spPr>
      </p:sp>
      <p:sp>
        <p:nvSpPr>
          <p:cNvPr id="27" name="Shape 25"/>
          <p:cNvSpPr/>
          <p:nvPr/>
        </p:nvSpPr>
        <p:spPr>
          <a:xfrm>
            <a:off x="7580376" y="4178808"/>
            <a:ext cx="384048" cy="384048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8" name="Text 26"/>
          <p:cNvSpPr/>
          <p:nvPr/>
        </p:nvSpPr>
        <p:spPr>
          <a:xfrm>
            <a:off x="7580376" y="4178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562088" y="4690872"/>
            <a:ext cx="14827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hôtelière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456268" y="3977640"/>
            <a:ext cx="1848460" cy="1417320"/>
          </a:xfrm>
          <a:prstGeom prst="roundRect">
            <a:avLst>
              <a:gd name="adj" fmla="val 6452"/>
            </a:avLst>
          </a:prstGeom>
          <a:solidFill>
            <a:srgbClr val="24446F"/>
          </a:solidFill>
          <a:ln/>
        </p:spPr>
      </p:sp>
      <p:sp>
        <p:nvSpPr>
          <p:cNvPr id="31" name="Shape 29"/>
          <p:cNvSpPr/>
          <p:nvPr/>
        </p:nvSpPr>
        <p:spPr>
          <a:xfrm>
            <a:off x="9657436" y="4178808"/>
            <a:ext cx="384048" cy="384048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32" name="Text 30"/>
          <p:cNvSpPr/>
          <p:nvPr/>
        </p:nvSpPr>
        <p:spPr>
          <a:xfrm>
            <a:off x="9657436" y="4178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39148" y="4690872"/>
            <a:ext cx="14827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touristique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CONTEXTE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d'apparition du projet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5074920" cy="3794760"/>
          </a:xfrm>
          <a:prstGeom prst="roundRect">
            <a:avLst>
              <a:gd name="adj" fmla="val 2892"/>
            </a:avLst>
          </a:prstGeom>
          <a:solidFill>
            <a:srgbClr val="FDF0E6"/>
          </a:solidFill>
          <a:ln/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225856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4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LE STAGE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32688" y="265176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pédagogique non centralisé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32688" y="338328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LMS dédié : contenu, évaluations et progression des apprenants sont dispersés entre plusieurs outils non reliés entre eux.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32688" y="4754880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4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courante dans les établissements de formation professionnelle de taille intermédiaire.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15000" y="3616452"/>
            <a:ext cx="822960" cy="310896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2" name="Shape 10"/>
          <p:cNvSpPr/>
          <p:nvPr/>
        </p:nvSpPr>
        <p:spPr>
          <a:xfrm>
            <a:off x="6601968" y="1874520"/>
            <a:ext cx="5074920" cy="3794760"/>
          </a:xfrm>
          <a:prstGeom prst="roundRect">
            <a:avLst>
              <a:gd name="adj" fmla="val 2892"/>
            </a:avLst>
          </a:prstGeom>
          <a:solidFill>
            <a:srgbClr val="142B4B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67728" y="225856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FC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DU STAGE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67728" y="265176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et développer, seul, une plateforme e-learning complète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967728" y="370332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lien direct avec l'équipe pédagogique d'IAT Academy, de la spécification jusqu'au déploiement.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967728" y="4754880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unique — analyse, conception, développement, tests, déploiement.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OBJECTIFS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534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84832"/>
            <a:ext cx="365760" cy="365760"/>
          </a:xfrm>
          <a:prstGeom prst="ellipse">
            <a:avLst/>
          </a:prstGeom>
          <a:solidFill>
            <a:srgbClr val="B8323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975104"/>
            <a:ext cx="429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vue d'ensemble en temps réel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429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progression d'un apprenant, module par module.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8728" y="1828800"/>
            <a:ext cx="534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4760" y="2084832"/>
            <a:ext cx="365760" cy="365760"/>
          </a:xfrm>
          <a:prstGeom prst="ellipse">
            <a:avLst/>
          </a:prstGeom>
          <a:solidFill>
            <a:srgbClr val="B83232"/>
          </a:solidFill>
          <a:ln/>
        </p:spPr>
      </p:sp>
      <p:sp>
        <p:nvSpPr>
          <p:cNvPr id="13" name="Text 11"/>
          <p:cNvSpPr/>
          <p:nvPr/>
        </p:nvSpPr>
        <p:spPr>
          <a:xfrm>
            <a:off x="6534760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83400" y="1975104"/>
            <a:ext cx="429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Évaluations non centralisées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83400" y="2286000"/>
            <a:ext cx="429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hétérogènes selon les formateurs et les supports utilisés.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136392"/>
            <a:ext cx="534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392424"/>
            <a:ext cx="365760" cy="365760"/>
          </a:xfrm>
          <a:prstGeom prst="ellipse">
            <a:avLst/>
          </a:prstGeom>
          <a:solidFill>
            <a:srgbClr val="B8323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92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282696"/>
            <a:ext cx="429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mécanisme fiable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3593592"/>
            <a:ext cx="429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empêchant l'accès à du contenu avancé sans validation préalable des prérequis.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78728" y="3136392"/>
            <a:ext cx="534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4760" y="3392424"/>
            <a:ext cx="365760" cy="365760"/>
          </a:xfrm>
          <a:prstGeom prst="ellipse">
            <a:avLst/>
          </a:prstGeom>
          <a:solidFill>
            <a:srgbClr val="B83232"/>
          </a:solidFill>
          <a:ln/>
        </p:spPr>
      </p:sp>
      <p:sp>
        <p:nvSpPr>
          <p:cNvPr id="23" name="Text 21"/>
          <p:cNvSpPr/>
          <p:nvPr/>
        </p:nvSpPr>
        <p:spPr>
          <a:xfrm>
            <a:off x="6534760" y="3392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3400" y="3282696"/>
            <a:ext cx="429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délivrés manuellement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83400" y="3593592"/>
            <a:ext cx="429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preuve numérique vérifiable par un tiers.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4462272"/>
            <a:ext cx="11057839" cy="914400"/>
          </a:xfrm>
          <a:prstGeom prst="roundRect">
            <a:avLst>
              <a:gd name="adj" fmla="val 12000"/>
            </a:avLst>
          </a:prstGeom>
          <a:solidFill>
            <a:srgbClr val="142B4B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2688" y="45902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C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CENTRALE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2688" y="4809744"/>
            <a:ext cx="103263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automatiser le parcours pédagogique complet tout en garantissant que les étapes sensibles (stage, soutenance) exigent explicitement l'arbitrage humain du Directeur pédagogique ?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OBJECTIFS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&amp; périmètre du livrable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847088"/>
            <a:ext cx="274320" cy="27432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8308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 fidèlement le cursus réel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2048256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→ Année → UF → Module → Leçon → Bloc de contenu.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324448" y="1847088"/>
            <a:ext cx="274320" cy="27432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0" name="Text 8"/>
          <p:cNvSpPr/>
          <p:nvPr/>
        </p:nvSpPr>
        <p:spPr>
          <a:xfrm>
            <a:off x="6763360" y="178308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à 4 portées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63360" y="2048256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/ module / UF / année, avec correction automatique et manuelle.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66928" y="2807208"/>
            <a:ext cx="274320" cy="27432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74320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Déblocage séquentiel du contenu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05840" y="3008376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est vérifiée côté serveur, jamais seulement côté client.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324448" y="2807208"/>
            <a:ext cx="274320" cy="27432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6" name="Text 14"/>
          <p:cNvSpPr/>
          <p:nvPr/>
        </p:nvSpPr>
        <p:spPr>
          <a:xfrm>
            <a:off x="6763360" y="274320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d'administration pédagogique complet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63360" y="3008376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piloter cours, quiz, cohortes et validations depuis l'application.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66928" y="3767328"/>
            <a:ext cx="274320" cy="27432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7033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vérifiables + suivi du stage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05840" y="3968496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la signature externe par le tuteur professionnel.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324448" y="3767328"/>
            <a:ext cx="274320" cy="27432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2" name="Text 20"/>
          <p:cNvSpPr/>
          <p:nvPr/>
        </p:nvSpPr>
        <p:spPr>
          <a:xfrm>
            <a:off x="6763360" y="37033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Sécurisation transversale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763360" y="3968496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contrôle de propriété, et déploiement reproductible (Docker).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66928" y="4818888"/>
            <a:ext cx="4206240" cy="31089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81888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: BACKEND + FRONTEND + BASE DE DONNÉES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10328" y="4818888"/>
            <a:ext cx="4251960" cy="310896"/>
          </a:xfrm>
          <a:prstGeom prst="roundRect">
            <a:avLst>
              <a:gd name="adj" fmla="val 50000"/>
            </a:avLst>
          </a:prstGeom>
          <a:solidFill>
            <a:srgbClr val="FDF0E6"/>
          </a:solidFill>
          <a:ln/>
        </p:spPr>
      </p:sp>
      <p:sp>
        <p:nvSpPr>
          <p:cNvPr id="27" name="Text 25"/>
          <p:cNvSpPr/>
          <p:nvPr/>
        </p:nvSpPr>
        <p:spPr>
          <a:xfrm>
            <a:off x="4910328" y="4818888"/>
            <a:ext cx="4251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C4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INTÉGRATION AU SI EXISTANT D'IAT ACADEMY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&amp; PLANIFICATION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adoptée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11057839" cy="868680"/>
          </a:xfrm>
          <a:prstGeom prst="roundRect">
            <a:avLst>
              <a:gd name="adj" fmla="val 12632"/>
            </a:avLst>
          </a:prstGeom>
          <a:solidFill>
            <a:srgbClr val="142B4B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1828800"/>
            <a:ext cx="1032631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unique, en lien direct et continu avec l'équipe pédagogique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6928" y="3063240"/>
            <a:ext cx="247642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03972" y="3246120"/>
            <a:ext cx="402336" cy="40233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0" name="Text 8"/>
          <p:cNvSpPr/>
          <p:nvPr/>
        </p:nvSpPr>
        <p:spPr>
          <a:xfrm>
            <a:off x="1603972" y="3246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656" y="3776472"/>
            <a:ext cx="22569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070784" y="3584448"/>
            <a:ext cx="329184" cy="146304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7400" y="3063240"/>
            <a:ext cx="247642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64444" y="3246120"/>
            <a:ext cx="402336" cy="40233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5" name="Text 13"/>
          <p:cNvSpPr/>
          <p:nvPr/>
        </p:nvSpPr>
        <p:spPr>
          <a:xfrm>
            <a:off x="4464444" y="3246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37128" y="3776472"/>
            <a:ext cx="22569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31256" y="3584448"/>
            <a:ext cx="329184" cy="146304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8" name="Shape 16"/>
          <p:cNvSpPr/>
          <p:nvPr/>
        </p:nvSpPr>
        <p:spPr>
          <a:xfrm>
            <a:off x="6287872" y="3063240"/>
            <a:ext cx="247642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24915" y="3246120"/>
            <a:ext cx="402336" cy="40233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0" name="Text 18"/>
          <p:cNvSpPr/>
          <p:nvPr/>
        </p:nvSpPr>
        <p:spPr>
          <a:xfrm>
            <a:off x="7324915" y="3246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97600" y="3776472"/>
            <a:ext cx="22569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791727" y="3584448"/>
            <a:ext cx="329184" cy="146304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8343" y="3063240"/>
            <a:ext cx="247642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185387" y="3246120"/>
            <a:ext cx="402336" cy="40233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5" name="Text 23"/>
          <p:cNvSpPr/>
          <p:nvPr/>
        </p:nvSpPr>
        <p:spPr>
          <a:xfrm>
            <a:off x="10185387" y="3246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58071" y="3776472"/>
            <a:ext cx="22569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terrain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443484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Cycle répété à chaque fonctionnalité — approche itérative et incrémentale plutôt qu'un découpage Scrum formel, peu représentatif d'un stage solo.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892040"/>
            <a:ext cx="11057839" cy="777240"/>
          </a:xfrm>
          <a:prstGeom prst="roundRect">
            <a:avLst>
              <a:gd name="adj" fmla="val 11765"/>
            </a:avLst>
          </a:prstGeom>
          <a:solidFill>
            <a:srgbClr val="EEF2F8"/>
          </a:solidFill>
          <a:ln w="12700">
            <a:solidFill>
              <a:srgbClr val="D4DE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" y="4892040"/>
            <a:ext cx="1041775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précoce du modèle de données sur des cas concrets, avant d'investir dans les fonctionnalités qui en dépendent.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&amp; PLANIFICATION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— 9 semaines de stage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2517572" cy="2331720"/>
          </a:xfrm>
          <a:prstGeom prst="roundRect">
            <a:avLst>
              <a:gd name="adj" fmla="val 3922"/>
            </a:avLst>
          </a:prstGeom>
          <a:solidFill>
            <a:srgbClr val="142B4B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487168"/>
            <a:ext cx="2188388" cy="310896"/>
          </a:xfrm>
          <a:prstGeom prst="roundRect">
            <a:avLst>
              <a:gd name="adj" fmla="val 50000"/>
            </a:avLst>
          </a:prstGeom>
          <a:solidFill>
            <a:srgbClr val="E08D1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87168"/>
            <a:ext cx="21883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 S2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80944"/>
            <a:ext cx="21883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&amp; immersion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21883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Immersion métier, spécification des besoins et des habilitations.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102788" y="3378708"/>
            <a:ext cx="292608" cy="146304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2" name="Shape 10"/>
          <p:cNvSpPr/>
          <p:nvPr/>
        </p:nvSpPr>
        <p:spPr>
          <a:xfrm>
            <a:off x="3413684" y="2286000"/>
            <a:ext cx="251757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78276" y="2487168"/>
            <a:ext cx="2188388" cy="31089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/>
        </p:spPr>
      </p:sp>
      <p:sp>
        <p:nvSpPr>
          <p:cNvPr id="14" name="Text 12"/>
          <p:cNvSpPr/>
          <p:nvPr/>
        </p:nvSpPr>
        <p:spPr>
          <a:xfrm>
            <a:off x="3578276" y="2487168"/>
            <a:ext cx="21883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– S3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78276" y="2980944"/>
            <a:ext cx="21883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78276" y="3566160"/>
            <a:ext cx="21883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UML, architecture logicielle, schéma relationnel, migrations Flyway.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949544" y="3378708"/>
            <a:ext cx="292608" cy="146304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0440" y="2286000"/>
            <a:ext cx="2517572" cy="2331720"/>
          </a:xfrm>
          <a:prstGeom prst="roundRect">
            <a:avLst>
              <a:gd name="adj" fmla="val 3922"/>
            </a:avLst>
          </a:prstGeom>
          <a:solidFill>
            <a:srgbClr val="142B4B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25032" y="2487168"/>
            <a:ext cx="2188388" cy="310896"/>
          </a:xfrm>
          <a:prstGeom prst="roundRect">
            <a:avLst>
              <a:gd name="adj" fmla="val 50000"/>
            </a:avLst>
          </a:prstGeom>
          <a:solidFill>
            <a:srgbClr val="E08D1B"/>
          </a:solidFill>
          <a:ln/>
        </p:spPr>
      </p:sp>
      <p:sp>
        <p:nvSpPr>
          <p:cNvPr id="20" name="Text 18"/>
          <p:cNvSpPr/>
          <p:nvPr/>
        </p:nvSpPr>
        <p:spPr>
          <a:xfrm>
            <a:off x="6425032" y="2487168"/>
            <a:ext cx="21883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– S8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5032" y="2980944"/>
            <a:ext cx="21883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itératif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25032" y="3566160"/>
            <a:ext cx="21883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2FA → CMS de cours → Quiz → IA → Stage &amp; Diplômes.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796299" y="3378708"/>
            <a:ext cx="292608" cy="146304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24" name="Shape 22"/>
          <p:cNvSpPr/>
          <p:nvPr/>
        </p:nvSpPr>
        <p:spPr>
          <a:xfrm>
            <a:off x="9107195" y="2286000"/>
            <a:ext cx="251757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71787" y="2487168"/>
            <a:ext cx="2188388" cy="31089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/>
        </p:spPr>
      </p:sp>
      <p:sp>
        <p:nvSpPr>
          <p:cNvPr id="26" name="Text 24"/>
          <p:cNvSpPr/>
          <p:nvPr/>
        </p:nvSpPr>
        <p:spPr>
          <a:xfrm>
            <a:off x="9271787" y="2487168"/>
            <a:ext cx="21883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– S9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71787" y="2980944"/>
            <a:ext cx="21883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 finale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271787" y="3566160"/>
            <a:ext cx="21883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 tests automatisés, tests de charge, dockerisation, recette finale.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 DES BESOINS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fonctionnels — cas d'utilisation principaux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347258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84832"/>
            <a:ext cx="402336" cy="40233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84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96052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999232"/>
            <a:ext cx="296052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matricule + 2FA optionnelle.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59554" y="1828800"/>
            <a:ext cx="347258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5586" y="2084832"/>
            <a:ext cx="402336" cy="40233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3" name="Text 11"/>
          <p:cNvSpPr/>
          <p:nvPr/>
        </p:nvSpPr>
        <p:spPr>
          <a:xfrm>
            <a:off x="4615586" y="2084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5586" y="2651760"/>
            <a:ext cx="296052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&amp; éditeur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5586" y="2999232"/>
            <a:ext cx="296052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 cours et éditeur de contenu par blocs.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52181" y="1828800"/>
            <a:ext cx="347258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08213" y="2084832"/>
            <a:ext cx="402336" cy="40233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8" name="Text 16"/>
          <p:cNvSpPr/>
          <p:nvPr/>
        </p:nvSpPr>
        <p:spPr>
          <a:xfrm>
            <a:off x="8408213" y="2084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08213" y="2651760"/>
            <a:ext cx="296052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à 4 portées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08213" y="2999232"/>
            <a:ext cx="296052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 automatique + questions ouvertes en correction manuelle.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041648"/>
            <a:ext cx="347258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297680"/>
            <a:ext cx="402336" cy="40233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297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4864608"/>
            <a:ext cx="296052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stage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212080"/>
            <a:ext cx="296052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de documents, signature externe par tuteur sans compte.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59554" y="4041648"/>
            <a:ext cx="347258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5586" y="4297680"/>
            <a:ext cx="402336" cy="40233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8" name="Text 26"/>
          <p:cNvSpPr/>
          <p:nvPr/>
        </p:nvSpPr>
        <p:spPr>
          <a:xfrm>
            <a:off x="4615586" y="4297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15586" y="4864608"/>
            <a:ext cx="296052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vérifiable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15586" y="5212080"/>
            <a:ext cx="296052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public + partage sur LinkedIn.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52181" y="4041648"/>
            <a:ext cx="347258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08213" y="4297680"/>
            <a:ext cx="402336" cy="40233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33" name="Text 31"/>
          <p:cNvSpPr/>
          <p:nvPr/>
        </p:nvSpPr>
        <p:spPr>
          <a:xfrm>
            <a:off x="8408213" y="4297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08213" y="4864608"/>
            <a:ext cx="296052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emploi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08213" y="5212080"/>
            <a:ext cx="296052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Messagerie, notifications, bourse à l'emploi, recherche globale.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 DES BESOINS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non fonctionnels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347258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1226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8A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97480"/>
            <a:ext cx="29605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296052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en cookie httpOnly (anti-XSS), RBAC hiérarchique + contrôle de propriété par ressource.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9554" y="1874520"/>
            <a:ext cx="347258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5586" y="211226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4446F"/>
          </a:solidFill>
          <a:ln/>
        </p:spPr>
      </p:sp>
      <p:sp>
        <p:nvSpPr>
          <p:cNvPr id="12" name="Text 10"/>
          <p:cNvSpPr/>
          <p:nvPr/>
        </p:nvSpPr>
        <p:spPr>
          <a:xfrm>
            <a:off x="4615586" y="2697480"/>
            <a:ext cx="29605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5586" y="3017520"/>
            <a:ext cx="296052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règles de progression sont toujours vérifiées côté serveur.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2181" y="1874520"/>
            <a:ext cx="347258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8213" y="211226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45C1A"/>
          </a:solidFill>
          <a:ln/>
        </p:spPr>
      </p:sp>
      <p:sp>
        <p:nvSpPr>
          <p:cNvPr id="16" name="Text 14"/>
          <p:cNvSpPr/>
          <p:nvPr/>
        </p:nvSpPr>
        <p:spPr>
          <a:xfrm>
            <a:off x="8408213" y="2697480"/>
            <a:ext cx="29605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Anti-abus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08213" y="3017520"/>
            <a:ext cx="296052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de débit Redis sur les connexions et les appels IA.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3241" y="3950208"/>
            <a:ext cx="347258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19273" y="41879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97612"/>
          </a:solidFill>
          <a:ln/>
        </p:spPr>
      </p:sp>
      <p:sp>
        <p:nvSpPr>
          <p:cNvPr id="20" name="Text 18"/>
          <p:cNvSpPr/>
          <p:nvPr/>
        </p:nvSpPr>
        <p:spPr>
          <a:xfrm>
            <a:off x="2719273" y="4773168"/>
            <a:ext cx="29605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Portabilité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719273" y="5093208"/>
            <a:ext cx="296052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conteneurisée, configuration 100% externalisée (Twelve-Factor App).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55868" y="3950208"/>
            <a:ext cx="347258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11900" y="41879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42B4B"/>
          </a:solidFill>
          <a:ln/>
        </p:spPr>
      </p:sp>
      <p:sp>
        <p:nvSpPr>
          <p:cNvPr id="24" name="Text 22"/>
          <p:cNvSpPr/>
          <p:nvPr/>
        </p:nvSpPr>
        <p:spPr>
          <a:xfrm>
            <a:off x="6511900" y="4773168"/>
            <a:ext cx="29605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511900" y="5093208"/>
            <a:ext cx="296052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à repli automatique entre deux fournisseurs : Gemini → Grok.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3992728" y="182880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EEF2F8"/>
          </a:solidFill>
          <a:ln w="12700">
            <a:solidFill>
              <a:srgbClr val="D4DE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92728" y="18288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 — Next.js 15 (SSR)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95264" y="2404872"/>
            <a:ext cx="201168" cy="219456"/>
          </a:xfrm>
          <a:prstGeom prst="downArrow">
            <a:avLst/>
          </a:prstGeom>
          <a:solidFill>
            <a:srgbClr val="D4DEEB"/>
          </a:solidFill>
          <a:ln/>
        </p:spPr>
      </p:sp>
      <p:sp>
        <p:nvSpPr>
          <p:cNvPr id="9" name="Text 7"/>
          <p:cNvSpPr/>
          <p:nvPr/>
        </p:nvSpPr>
        <p:spPr>
          <a:xfrm>
            <a:off x="6278728" y="2359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cookie JWT httpOnly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35528" y="2679192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EEF2F8"/>
          </a:solidFill>
          <a:ln w="12700">
            <a:solidFill>
              <a:srgbClr val="D4DE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5528" y="267919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Nginx — routage /api + WebSocket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95264" y="3209544"/>
            <a:ext cx="201168" cy="219456"/>
          </a:xfrm>
          <a:prstGeom prst="downArrow">
            <a:avLst/>
          </a:prstGeom>
          <a:solidFill>
            <a:srgbClr val="D4DEEB"/>
          </a:solidFill>
          <a:ln/>
        </p:spPr>
      </p:sp>
      <p:sp>
        <p:nvSpPr>
          <p:cNvPr id="13" name="Shape 11"/>
          <p:cNvSpPr/>
          <p:nvPr/>
        </p:nvSpPr>
        <p:spPr>
          <a:xfrm>
            <a:off x="2346808" y="3493008"/>
            <a:ext cx="7498080" cy="1188720"/>
          </a:xfrm>
          <a:prstGeom prst="roundRect">
            <a:avLst>
              <a:gd name="adj" fmla="val 9231"/>
            </a:avLst>
          </a:prstGeom>
          <a:solidFill>
            <a:srgbClr val="142B4B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66848" y="358444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— Spring Boot 3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666848" y="3950208"/>
            <a:ext cx="2164080" cy="365760"/>
          </a:xfrm>
          <a:prstGeom prst="roundRect">
            <a:avLst>
              <a:gd name="adj" fmla="val 20000"/>
            </a:avLst>
          </a:prstGeom>
          <a:solidFill>
            <a:srgbClr val="24446F"/>
          </a:solidFill>
          <a:ln/>
        </p:spPr>
      </p:sp>
      <p:sp>
        <p:nvSpPr>
          <p:cNvPr id="16" name="Text 14"/>
          <p:cNvSpPr/>
          <p:nvPr/>
        </p:nvSpPr>
        <p:spPr>
          <a:xfrm>
            <a:off x="2666848" y="3950208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Contrôleurs REST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9216" y="4096512"/>
            <a:ext cx="146304" cy="9144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8" name="Shape 16"/>
          <p:cNvSpPr/>
          <p:nvPr/>
        </p:nvSpPr>
        <p:spPr>
          <a:xfrm>
            <a:off x="5013808" y="3950208"/>
            <a:ext cx="2164080" cy="365760"/>
          </a:xfrm>
          <a:prstGeom prst="roundRect">
            <a:avLst>
              <a:gd name="adj" fmla="val 20000"/>
            </a:avLst>
          </a:prstGeom>
          <a:solidFill>
            <a:srgbClr val="24446F"/>
          </a:solidFill>
          <a:ln/>
        </p:spPr>
      </p:sp>
      <p:sp>
        <p:nvSpPr>
          <p:cNvPr id="19" name="Text 17"/>
          <p:cNvSpPr/>
          <p:nvPr/>
        </p:nvSpPr>
        <p:spPr>
          <a:xfrm>
            <a:off x="5013808" y="3950208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métier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96176" y="4096512"/>
            <a:ext cx="146304" cy="9144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21" name="Shape 19"/>
          <p:cNvSpPr/>
          <p:nvPr/>
        </p:nvSpPr>
        <p:spPr>
          <a:xfrm>
            <a:off x="7360768" y="3950208"/>
            <a:ext cx="2164080" cy="365760"/>
          </a:xfrm>
          <a:prstGeom prst="roundRect">
            <a:avLst>
              <a:gd name="adj" fmla="val 20000"/>
            </a:avLst>
          </a:prstGeom>
          <a:solidFill>
            <a:srgbClr val="24446F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768" y="3950208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JPA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66848" y="4407408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contrôleurs  ·  179 points d'accès  ·  9 domaines fonctionnels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95264" y="4727448"/>
            <a:ext cx="201168" cy="219456"/>
          </a:xfrm>
          <a:prstGeom prst="downArrow">
            <a:avLst/>
          </a:prstGeom>
          <a:solidFill>
            <a:srgbClr val="D4DEEB"/>
          </a:solidFill>
          <a:ln/>
        </p:spPr>
      </p:sp>
      <p:sp>
        <p:nvSpPr>
          <p:cNvPr id="25" name="Shape 23"/>
          <p:cNvSpPr/>
          <p:nvPr/>
        </p:nvSpPr>
        <p:spPr>
          <a:xfrm>
            <a:off x="3444088" y="5029200"/>
            <a:ext cx="2468880" cy="621792"/>
          </a:xfrm>
          <a:prstGeom prst="roundRect">
            <a:avLst>
              <a:gd name="adj" fmla="val 14706"/>
            </a:avLst>
          </a:prstGeom>
          <a:solidFill>
            <a:srgbClr val="EEF2F8"/>
          </a:solidFill>
          <a:ln w="12700">
            <a:solidFill>
              <a:srgbClr val="D4DE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4088" y="502920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Flyway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78728" y="5029200"/>
            <a:ext cx="2468880" cy="621792"/>
          </a:xfrm>
          <a:prstGeom prst="roundRect">
            <a:avLst>
              <a:gd name="adj" fmla="val 14706"/>
            </a:avLst>
          </a:prstGeom>
          <a:solidFill>
            <a:srgbClr val="EEF2F8"/>
          </a:solidFill>
          <a:ln w="12700">
            <a:solidFill>
              <a:srgbClr val="D4DE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8728" y="502920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rate-limit, sessions quiz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66928" y="251460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JPA concrètes, héritant d'une classe d'audit commune (AuditableEntity).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324612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DOMAINES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3557016"/>
            <a:ext cx="91440" cy="9144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483864"/>
            <a:ext cx="16687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/ sécurité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2372868" y="3557016"/>
            <a:ext cx="91440" cy="9144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2" name="Text 10"/>
          <p:cNvSpPr/>
          <p:nvPr/>
        </p:nvSpPr>
        <p:spPr>
          <a:xfrm>
            <a:off x="2555748" y="3483864"/>
            <a:ext cx="16687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pédagogique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566928" y="3831336"/>
            <a:ext cx="91440" cy="9144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758184"/>
            <a:ext cx="16687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/ médias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372868" y="3831336"/>
            <a:ext cx="91440" cy="9144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6" name="Text 14"/>
          <p:cNvSpPr/>
          <p:nvPr/>
        </p:nvSpPr>
        <p:spPr>
          <a:xfrm>
            <a:off x="2555748" y="3758184"/>
            <a:ext cx="16687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566928" y="4105656"/>
            <a:ext cx="91440" cy="9144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032504"/>
            <a:ext cx="16687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/ certification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2372868" y="4105656"/>
            <a:ext cx="91440" cy="9144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0" name="Text 18"/>
          <p:cNvSpPr/>
          <p:nvPr/>
        </p:nvSpPr>
        <p:spPr>
          <a:xfrm>
            <a:off x="2555748" y="4032504"/>
            <a:ext cx="16687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566928" y="4379976"/>
            <a:ext cx="91440" cy="9144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306824"/>
            <a:ext cx="16687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2372868" y="4379976"/>
            <a:ext cx="91440" cy="9144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4" name="Text 22"/>
          <p:cNvSpPr/>
          <p:nvPr/>
        </p:nvSpPr>
        <p:spPr>
          <a:xfrm>
            <a:off x="2555748" y="4306824"/>
            <a:ext cx="16687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/ emploi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566928" y="4654296"/>
            <a:ext cx="91440" cy="9144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581144"/>
            <a:ext cx="16687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66928" y="493776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142B4B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95528" y="5065776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C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CLÉ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95528" y="5303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L'Unité de Formation est un attribut indexé sur ModuleEntity, pas une table dédiée : la progression est calculée dynamiquement en couche service.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4389120" y="1817080"/>
            <a:ext cx="7345375" cy="432112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pic>
        <p:nvPicPr>
          <p:cNvPr id="31" name="Image 0" descr="C:\Users\amine\AppData\Local\Temp\claude\D--stockage-emsi-4eme-Stage-E-learning\c3e9852d-391c-41a7-a591-9373ab8db47f\scratchpad\pptx-build\assets\diag_clas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8848" y="1926808"/>
            <a:ext cx="7125919" cy="410166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contrôle d'accès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1615288" y="1874520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142B4B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15288" y="18745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SUPER_ADMIN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285336" y="1874520"/>
            <a:ext cx="466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8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769968" y="1874520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24446F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69968" y="18745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(Directeur)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440016" y="1874520"/>
            <a:ext cx="466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8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924648" y="1874520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C97612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24648" y="18745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FORMATEUR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449928" y="2743200"/>
            <a:ext cx="3291840" cy="292608"/>
          </a:xfrm>
          <a:prstGeom prst="roundRect">
            <a:avLst>
              <a:gd name="adj" fmla="val 53125"/>
            </a:avLst>
          </a:prstGeom>
          <a:solidFill>
            <a:srgbClr val="EEF2F8"/>
          </a:solidFill>
          <a:ln/>
        </p:spPr>
      </p:sp>
      <p:sp>
        <p:nvSpPr>
          <p:cNvPr id="15" name="Text 13"/>
          <p:cNvSpPr/>
          <p:nvPr/>
        </p:nvSpPr>
        <p:spPr>
          <a:xfrm>
            <a:off x="4449928" y="27432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&amp; SUPPORT — hors hiérarchie staff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3291840"/>
            <a:ext cx="53003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" y="3566160"/>
            <a:ext cx="466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contrôle de propriété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86968" y="4069080"/>
            <a:ext cx="466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sur les endpoints staff, et vérification de propriété systématique en couche service (voir MessagingService#assertAccess).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6968" y="4937760"/>
            <a:ext cx="4660240" cy="777240"/>
          </a:xfrm>
          <a:prstGeom prst="roundRect">
            <a:avLst>
              <a:gd name="adj" fmla="val 11765"/>
            </a:avLst>
          </a:prstGeom>
          <a:solidFill>
            <a:srgbClr val="FCEAEA"/>
          </a:solidFill>
          <a:ln w="12700">
            <a:solidFill>
              <a:srgbClr val="D4DE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4937760"/>
            <a:ext cx="420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 une classe de vulnérabilités IDOR que le RBAC seul ne couvre pas.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24448" y="3291840"/>
            <a:ext cx="53003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44488" y="3566160"/>
            <a:ext cx="466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stateless + 2FA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644488" y="4069080"/>
            <a:ext cx="466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par JWT transporté en cookie httpOnly (protection anti-XSS), avec vérification à deux facteurs disponible en option.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44488" y="4937760"/>
            <a:ext cx="4660240" cy="777240"/>
          </a:xfrm>
          <a:prstGeom prst="roundRect">
            <a:avLst>
              <a:gd name="adj" fmla="val 11765"/>
            </a:avLst>
          </a:prstGeom>
          <a:solidFill>
            <a:srgbClr val="E6F5F0"/>
          </a:solidFill>
          <a:ln w="12700">
            <a:solidFill>
              <a:srgbClr val="D4DE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3088" y="4937760"/>
            <a:ext cx="420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session stockée côté serveur : scalabilité horizontale simplifiée.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TECHNIQUE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et justification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534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267712"/>
            <a:ext cx="402336" cy="40233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267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08176" y="2011680"/>
            <a:ext cx="42487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/ Java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408176" y="2359152"/>
            <a:ext cx="4248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mature, sécurité et accès aux données intégrés.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78728" y="1828800"/>
            <a:ext cx="534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53048" y="2267712"/>
            <a:ext cx="402336" cy="40233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3" name="Text 11"/>
          <p:cNvSpPr/>
          <p:nvPr/>
        </p:nvSpPr>
        <p:spPr>
          <a:xfrm>
            <a:off x="6553048" y="2267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19976" y="2011680"/>
            <a:ext cx="42487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Flyway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19976" y="2359152"/>
            <a:ext cx="4248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fiable, migrations versionnées reproductibles.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66928" y="3337560"/>
            <a:ext cx="534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3776472"/>
            <a:ext cx="402336" cy="40233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776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08176" y="3520440"/>
            <a:ext cx="42487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408176" y="3867912"/>
            <a:ext cx="4248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volatiles à courte durée de vie (débit, verrous, tentatives de quiz).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278728" y="3337560"/>
            <a:ext cx="534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53048" y="3776472"/>
            <a:ext cx="402336" cy="40233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3" name="Text 21"/>
          <p:cNvSpPr/>
          <p:nvPr/>
        </p:nvSpPr>
        <p:spPr>
          <a:xfrm>
            <a:off x="6553048" y="3776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19976" y="3520440"/>
            <a:ext cx="42487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119976" y="3867912"/>
            <a:ext cx="4248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serveur pour les pages publiques (SEO / Open Graph, ex. certificat).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66928" y="4846320"/>
            <a:ext cx="534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1248" y="5285232"/>
            <a:ext cx="402336" cy="40233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5285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08176" y="5029200"/>
            <a:ext cx="42487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Docker Compose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408176" y="5376672"/>
            <a:ext cx="4248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reproductible, environnement local et déploiement alignés.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278728" y="4846320"/>
            <a:ext cx="5346040" cy="1280160"/>
          </a:xfrm>
          <a:prstGeom prst="roundRect">
            <a:avLst>
              <a:gd name="adj" fmla="val 7143"/>
            </a:avLst>
          </a:prstGeom>
          <a:solidFill>
            <a:srgbClr val="142B4B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98768" y="4846320"/>
            <a:ext cx="470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F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stack choisie pour la fiabilité et la reproductibilité — pas pour la nouveauté.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&amp; DÉMONSTRATION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questions par IA, avec repli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QuestionGenerationService interroge Gemini en premier ; en cas d'échec, bascule automatique vers Grok.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542032"/>
            <a:ext cx="4846320" cy="502920"/>
          </a:xfrm>
          <a:prstGeom prst="roundRect">
            <a:avLst>
              <a:gd name="adj" fmla="val 18182"/>
            </a:avLst>
          </a:prstGeom>
          <a:solidFill>
            <a:srgbClr val="EEF2F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54203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Gemini — fournisseur primaire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98648" y="3063240"/>
            <a:ext cx="182880" cy="201168"/>
          </a:xfrm>
          <a:prstGeom prst="downArrow">
            <a:avLst/>
          </a:prstGeom>
          <a:solidFill>
            <a:srgbClr val="D4DEEB"/>
          </a:solidFill>
          <a:ln/>
        </p:spPr>
      </p:sp>
      <p:sp>
        <p:nvSpPr>
          <p:cNvPr id="10" name="Text 8"/>
          <p:cNvSpPr/>
          <p:nvPr/>
        </p:nvSpPr>
        <p:spPr>
          <a:xfrm>
            <a:off x="3136392" y="30449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d'échec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3310128"/>
            <a:ext cx="4846320" cy="502920"/>
          </a:xfrm>
          <a:prstGeom prst="roundRect">
            <a:avLst>
              <a:gd name="adj" fmla="val 18182"/>
            </a:avLst>
          </a:prstGeom>
          <a:solidFill>
            <a:srgbClr val="24446F"/>
          </a:solidFill>
          <a:ln/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33101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Grok — repli automatique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133088"/>
            <a:ext cx="274320" cy="27432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69080"/>
            <a:ext cx="4407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identique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4334256"/>
            <a:ext cx="44074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question générée passe par la même validation qu'une question créée manuellement, avant publication dans la banque.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074920"/>
            <a:ext cx="4343400" cy="329184"/>
          </a:xfrm>
          <a:prstGeom prst="roundRect">
            <a:avLst>
              <a:gd name="adj" fmla="val 47222"/>
            </a:avLst>
          </a:prstGeom>
          <a:solidFill>
            <a:srgbClr val="FDF0E6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74920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4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GÉNÉRATIONS / 5 MIN PAR FORMATEUR (REDIS)</a:t>
            </a:r>
            <a:endParaRPr lang="en-US" sz="950" dirty="0"/>
          </a:p>
        </p:txBody>
      </p:sp>
      <p:pic>
        <p:nvPicPr>
          <p:cNvPr id="18" name="Image 0" descr="C:\Users\amine\AppData\Local\Temp\claude\D--stockage-emsi-4eme-Stage-E-learning\c3e9852d-391c-41a7-a591-9373ab8db47f\scratchpad\pptx-build\assets\shot_generation_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3902" y="2011680"/>
            <a:ext cx="5347411" cy="3931920"/>
          </a:xfrm>
          <a:prstGeom prst="rect">
            <a:avLst/>
          </a:prstGeom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pic>
      <p:sp>
        <p:nvSpPr>
          <p:cNvPr id="19" name="Text 16"/>
          <p:cNvSpPr/>
          <p:nvPr/>
        </p:nvSpPr>
        <p:spPr>
          <a:xfrm>
            <a:off x="5870448" y="6016752"/>
            <a:ext cx="57543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— génération de questions par IA (banque de quiz)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&amp; DÉMONSTRATION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hybride &amp; progression séquentielle</a:t>
            </a:r>
            <a:endParaRPr lang="en-US" sz="2900" dirty="0"/>
          </a:p>
        </p:txBody>
      </p:sp>
      <p:pic>
        <p:nvPicPr>
          <p:cNvPr id="6" name="Image 0" descr="C:\Users\amine\AppData\Local\Temp\claude\D--stockage-emsi-4eme-Stage-E-learning\c3e9852d-391c-41a7-a591-9373ab8db47f\scratchpad\pptx-build\assets\shot_quiz_m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11680"/>
            <a:ext cx="3403752" cy="3931920"/>
          </a:xfrm>
          <a:prstGeom prst="rect">
            <a:avLst/>
          </a:prstGeom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66928" y="6016752"/>
            <a:ext cx="3403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— type d'évaluation et mode de correction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427880" y="1828800"/>
            <a:ext cx="1696352" cy="31089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/>
        </p:spPr>
      </p:sp>
      <p:sp>
        <p:nvSpPr>
          <p:cNvPr id="9" name="Text 6"/>
          <p:cNvSpPr/>
          <p:nvPr/>
        </p:nvSpPr>
        <p:spPr>
          <a:xfrm>
            <a:off x="4427880" y="1828800"/>
            <a:ext cx="1696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61392" y="1828800"/>
            <a:ext cx="1696352" cy="31089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/>
        </p:spPr>
      </p:sp>
      <p:sp>
        <p:nvSpPr>
          <p:cNvPr id="11" name="Text 8"/>
          <p:cNvSpPr/>
          <p:nvPr/>
        </p:nvSpPr>
        <p:spPr>
          <a:xfrm>
            <a:off x="6261392" y="1828800"/>
            <a:ext cx="1696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94903" y="1828800"/>
            <a:ext cx="1696352" cy="31089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/>
        </p:spPr>
      </p:sp>
      <p:sp>
        <p:nvSpPr>
          <p:cNvPr id="13" name="Text 10"/>
          <p:cNvSpPr/>
          <p:nvPr/>
        </p:nvSpPr>
        <p:spPr>
          <a:xfrm>
            <a:off x="8094903" y="1828800"/>
            <a:ext cx="1696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928415" y="1828800"/>
            <a:ext cx="1696352" cy="31089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/>
        </p:spPr>
      </p:sp>
      <p:sp>
        <p:nvSpPr>
          <p:cNvPr id="15" name="Text 12"/>
          <p:cNvSpPr/>
          <p:nvPr/>
        </p:nvSpPr>
        <p:spPr>
          <a:xfrm>
            <a:off x="9928415" y="1828800"/>
            <a:ext cx="1696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427880" y="2350008"/>
            <a:ext cx="274320" cy="27432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7" name="Text 14"/>
          <p:cNvSpPr/>
          <p:nvPr/>
        </p:nvSpPr>
        <p:spPr>
          <a:xfrm>
            <a:off x="4866792" y="2286000"/>
            <a:ext cx="67579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hybride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866792" y="2551176"/>
            <a:ext cx="67579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 corrigés automatiquement ; les questions ouvertes passent en PENDING_REVIEW jusqu'à correction manuelle.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427880" y="3447288"/>
            <a:ext cx="274320" cy="27432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0" name="Text 17"/>
          <p:cNvSpPr/>
          <p:nvPr/>
        </p:nvSpPr>
        <p:spPr>
          <a:xfrm>
            <a:off x="4866792" y="3383280"/>
            <a:ext cx="67579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 automatique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866792" y="3648456"/>
            <a:ext cx="67579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finalizeIfFullyGraded() recalcule la note et déclenche l'attribution des badges et l'éligibilité au certificat.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427880" y="4544568"/>
            <a:ext cx="274320" cy="27432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3" name="Text 20"/>
          <p:cNvSpPr/>
          <p:nvPr/>
        </p:nvSpPr>
        <p:spPr>
          <a:xfrm>
            <a:off x="4866792" y="4480560"/>
            <a:ext cx="67579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Déblocage séquentiel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866792" y="4745736"/>
            <a:ext cx="67579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Leçons → quiz → (UF5 Stage, UF11 Soutenance) : validation manuelle obligatoire du Directeur pédagogique.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&amp; DÉMONSTRATION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&amp; certification vérifiable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parcours de stage suivi jusqu'à la preuve numérique finale.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532888"/>
            <a:ext cx="274320" cy="27432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68880"/>
            <a:ext cx="4407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des documents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2734056"/>
            <a:ext cx="44074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 et rapports déposés par l'apprenant directement dans son espace stage.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630168"/>
            <a:ext cx="274320" cy="27432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566160"/>
            <a:ext cx="4407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externe sans compte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3831336"/>
            <a:ext cx="44074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par jeton unique envoyée au tuteur professionnel — aucune création de compte requise.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818888"/>
            <a:ext cx="274320" cy="27432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754880"/>
            <a:ext cx="4407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vérifiable publiquement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5020056"/>
            <a:ext cx="44074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/verify/[code] + bouton « Ajouter au profil LinkedIn ».</a:t>
            </a:r>
            <a:endParaRPr lang="en-US" sz="1100" dirty="0"/>
          </a:p>
        </p:txBody>
      </p:sp>
      <p:pic>
        <p:nvPicPr>
          <p:cNvPr id="16" name="Image 0" descr="C:\Users\amine\AppData\Local\Temp\claude\D--stockage-emsi-4eme-Stage-E-learning\c3e9852d-391c-41a7-a591-9373ab8db47f\scratchpad\pptx-build\assets\shot_certific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9945" y="2011680"/>
            <a:ext cx="5055326" cy="3931920"/>
          </a:xfrm>
          <a:prstGeom prst="rect">
            <a:avLst/>
          </a:prstGeom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pic>
      <p:sp>
        <p:nvSpPr>
          <p:cNvPr id="17" name="Text 14"/>
          <p:cNvSpPr/>
          <p:nvPr/>
        </p:nvSpPr>
        <p:spPr>
          <a:xfrm>
            <a:off x="5870448" y="6016752"/>
            <a:ext cx="57543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— page de vérification de certificat (/verify/[code])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&amp; DÉMONSTRATION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&amp; gamification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24460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25346" y="1938528"/>
            <a:ext cx="329184" cy="329184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8" name="Text 6"/>
          <p:cNvSpPr/>
          <p:nvPr/>
        </p:nvSpPr>
        <p:spPr>
          <a:xfrm>
            <a:off x="1625346" y="1938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40864"/>
            <a:ext cx="22997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module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1548" y="1828800"/>
            <a:ext cx="24460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9966" y="1938528"/>
            <a:ext cx="329184" cy="329184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2" name="Text 10"/>
          <p:cNvSpPr/>
          <p:nvPr/>
        </p:nvSpPr>
        <p:spPr>
          <a:xfrm>
            <a:off x="4299966" y="1938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4700" y="2340864"/>
            <a:ext cx="22997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sans faute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2926080"/>
            <a:ext cx="24460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625346" y="3035808"/>
            <a:ext cx="329184" cy="329184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6" name="Text 14"/>
          <p:cNvSpPr/>
          <p:nvPr/>
        </p:nvSpPr>
        <p:spPr>
          <a:xfrm>
            <a:off x="1625346" y="3035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438144"/>
            <a:ext cx="22997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validé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1548" y="2926080"/>
            <a:ext cx="24460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9966" y="3035808"/>
            <a:ext cx="329184" cy="329184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0" name="Text 18"/>
          <p:cNvSpPr/>
          <p:nvPr/>
        </p:nvSpPr>
        <p:spPr>
          <a:xfrm>
            <a:off x="4299966" y="3035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14700" y="3438144"/>
            <a:ext cx="22997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complété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023360"/>
            <a:ext cx="24460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625346" y="4133088"/>
            <a:ext cx="329184" cy="329184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4" name="Text 22"/>
          <p:cNvSpPr/>
          <p:nvPr/>
        </p:nvSpPr>
        <p:spPr>
          <a:xfrm>
            <a:off x="1625346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535424"/>
            <a:ext cx="22997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forum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1548" y="4023360"/>
            <a:ext cx="24460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99966" y="4133088"/>
            <a:ext cx="329184" cy="329184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8" name="Text 26"/>
          <p:cNvSpPr/>
          <p:nvPr/>
        </p:nvSpPr>
        <p:spPr>
          <a:xfrm>
            <a:off x="4299966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14700" y="4535424"/>
            <a:ext cx="22997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1 validée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5120640"/>
            <a:ext cx="24460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625346" y="5230368"/>
            <a:ext cx="329184" cy="329184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32" name="Text 30"/>
          <p:cNvSpPr/>
          <p:nvPr/>
        </p:nvSpPr>
        <p:spPr>
          <a:xfrm>
            <a:off x="1625346" y="5230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5632704"/>
            <a:ext cx="22997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2 validée</a:t>
            </a:r>
            <a:endParaRPr lang="en-US" sz="1000" dirty="0"/>
          </a:p>
        </p:txBody>
      </p:sp>
      <p:pic>
        <p:nvPicPr>
          <p:cNvPr id="34" name="Image 0" descr="C:\Users\amine\AppData\Local\Temp\claude\D--stockage-emsi-4eme-Stage-E-learning\c3e9852d-391c-41a7-a591-9373ab8db47f\scratchpad\pptx-build\assets\shot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5992" y="2057400"/>
            <a:ext cx="5386111" cy="3794760"/>
          </a:xfrm>
          <a:prstGeom prst="rect">
            <a:avLst/>
          </a:prstGeom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pic>
      <p:sp>
        <p:nvSpPr>
          <p:cNvPr id="35" name="Text 32"/>
          <p:cNvSpPr/>
          <p:nvPr/>
        </p:nvSpPr>
        <p:spPr>
          <a:xfrm>
            <a:off x="6053328" y="6016752"/>
            <a:ext cx="55714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d'embarquement (Java2D) — page publique de partage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&amp; DÉMONSTRATION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en direct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1721053" cy="777240"/>
          </a:xfrm>
          <a:prstGeom prst="roundRect">
            <a:avLst>
              <a:gd name="adj" fmla="val 11765"/>
            </a:avLst>
          </a:prstGeom>
          <a:solidFill>
            <a:srgbClr val="142B4B"/>
          </a:solidFill>
          <a:ln/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72007" y="1920240"/>
            <a:ext cx="310896" cy="31089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8" name="Text 6"/>
          <p:cNvSpPr/>
          <p:nvPr/>
        </p:nvSpPr>
        <p:spPr>
          <a:xfrm>
            <a:off x="1272007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" y="2267712"/>
            <a:ext cx="1629613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97125" y="2162556"/>
            <a:ext cx="128016" cy="9144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2434285" y="1828800"/>
            <a:ext cx="1721053" cy="777240"/>
          </a:xfrm>
          <a:prstGeom prst="roundRect">
            <a:avLst>
              <a:gd name="adj" fmla="val 11765"/>
            </a:avLst>
          </a:prstGeom>
          <a:solidFill>
            <a:srgbClr val="EEF2F8"/>
          </a:solidFill>
          <a:ln/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9364" y="1920240"/>
            <a:ext cx="310896" cy="31089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3" name="Text 11"/>
          <p:cNvSpPr/>
          <p:nvPr/>
        </p:nvSpPr>
        <p:spPr>
          <a:xfrm>
            <a:off x="3139364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80005" y="2267712"/>
            <a:ext cx="1629613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64482" y="2162556"/>
            <a:ext cx="128016" cy="9144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6" name="Shape 14"/>
          <p:cNvSpPr/>
          <p:nvPr/>
        </p:nvSpPr>
        <p:spPr>
          <a:xfrm>
            <a:off x="4301642" y="1828800"/>
            <a:ext cx="1721053" cy="777240"/>
          </a:xfrm>
          <a:prstGeom prst="roundRect">
            <a:avLst>
              <a:gd name="adj" fmla="val 11765"/>
            </a:avLst>
          </a:prstGeom>
          <a:solidFill>
            <a:srgbClr val="EEF2F8"/>
          </a:solidFill>
          <a:ln/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06721" y="1920240"/>
            <a:ext cx="310896" cy="31089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18" name="Text 16"/>
          <p:cNvSpPr/>
          <p:nvPr/>
        </p:nvSpPr>
        <p:spPr>
          <a:xfrm>
            <a:off x="5006721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47362" y="2267712"/>
            <a:ext cx="1629613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1840" y="2162556"/>
            <a:ext cx="128016" cy="9144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21" name="Shape 19"/>
          <p:cNvSpPr/>
          <p:nvPr/>
        </p:nvSpPr>
        <p:spPr>
          <a:xfrm>
            <a:off x="6169000" y="1828800"/>
            <a:ext cx="1721053" cy="777240"/>
          </a:xfrm>
          <a:prstGeom prst="roundRect">
            <a:avLst>
              <a:gd name="adj" fmla="val 11765"/>
            </a:avLst>
          </a:prstGeom>
          <a:solidFill>
            <a:srgbClr val="EEF2F8"/>
          </a:solidFill>
          <a:ln/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74078" y="1920240"/>
            <a:ext cx="310896" cy="31089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3" name="Text 21"/>
          <p:cNvSpPr/>
          <p:nvPr/>
        </p:nvSpPr>
        <p:spPr>
          <a:xfrm>
            <a:off x="6874078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4720" y="2267712"/>
            <a:ext cx="1629613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stage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899197" y="2162556"/>
            <a:ext cx="128016" cy="9144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26" name="Shape 24"/>
          <p:cNvSpPr/>
          <p:nvPr/>
        </p:nvSpPr>
        <p:spPr>
          <a:xfrm>
            <a:off x="8036357" y="1828800"/>
            <a:ext cx="1721053" cy="777240"/>
          </a:xfrm>
          <a:prstGeom prst="roundRect">
            <a:avLst>
              <a:gd name="adj" fmla="val 11765"/>
            </a:avLst>
          </a:prstGeom>
          <a:solidFill>
            <a:srgbClr val="EEF2F8"/>
          </a:solidFill>
          <a:ln/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741435" y="1920240"/>
            <a:ext cx="310896" cy="31089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8" name="Text 26"/>
          <p:cNvSpPr/>
          <p:nvPr/>
        </p:nvSpPr>
        <p:spPr>
          <a:xfrm>
            <a:off x="8741435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82077" y="2267712"/>
            <a:ext cx="1629613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/ LinkedIn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766554" y="2162556"/>
            <a:ext cx="128016" cy="9144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31" name="Shape 29"/>
          <p:cNvSpPr/>
          <p:nvPr/>
        </p:nvSpPr>
        <p:spPr>
          <a:xfrm>
            <a:off x="9903714" y="1828800"/>
            <a:ext cx="1721053" cy="777240"/>
          </a:xfrm>
          <a:prstGeom prst="roundRect">
            <a:avLst>
              <a:gd name="adj" fmla="val 11765"/>
            </a:avLst>
          </a:prstGeom>
          <a:solidFill>
            <a:srgbClr val="142B4B"/>
          </a:solidFill>
          <a:ln/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608793" y="1920240"/>
            <a:ext cx="310896" cy="310896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33" name="Text 31"/>
          <p:cNvSpPr/>
          <p:nvPr/>
        </p:nvSpPr>
        <p:spPr>
          <a:xfrm>
            <a:off x="10608793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949434" y="2267712"/>
            <a:ext cx="1629613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</a:t>
            </a:r>
            <a:endParaRPr lang="en-US" sz="950" dirty="0"/>
          </a:p>
        </p:txBody>
      </p:sp>
      <p:pic>
        <p:nvPicPr>
          <p:cNvPr id="35" name="Image 0" descr="C:\Users\amine\AppData\Local\Temp\claude\D--stockage-emsi-4eme-Stage-E-learning\c3e9852d-391c-41a7-a591-9373ab8db47f\scratchpad\pptx-build\assets\shot_connex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093" y="2926080"/>
            <a:ext cx="2090612" cy="1691640"/>
          </a:xfrm>
          <a:prstGeom prst="rect">
            <a:avLst/>
          </a:prstGeom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pic>
      <p:sp>
        <p:nvSpPr>
          <p:cNvPr id="36" name="Text 33"/>
          <p:cNvSpPr/>
          <p:nvPr/>
        </p:nvSpPr>
        <p:spPr>
          <a:xfrm>
            <a:off x="960653" y="4672584"/>
            <a:ext cx="22734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— « porte d'embarquement »</a:t>
            </a:r>
            <a:endParaRPr lang="en-US" sz="850" dirty="0"/>
          </a:p>
        </p:txBody>
      </p:sp>
      <p:pic>
        <p:nvPicPr>
          <p:cNvPr id="37" name="Image 1" descr="C:\Users\amine\AppData\Local\Temp\claude\D--stockage-emsi-4eme-Stage-E-learning\c3e9852d-391c-41a7-a591-9373ab8db47f\scratchpad\pptx-build\assets\shot_quiz_pass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736" y="2926080"/>
            <a:ext cx="2652799" cy="1691640"/>
          </a:xfrm>
          <a:prstGeom prst="rect">
            <a:avLst/>
          </a:prstGeom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pic>
      <p:sp>
        <p:nvSpPr>
          <p:cNvPr id="38" name="Text 34"/>
          <p:cNvSpPr/>
          <p:nvPr/>
        </p:nvSpPr>
        <p:spPr>
          <a:xfrm>
            <a:off x="3307296" y="4672584"/>
            <a:ext cx="28356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Passation de quiz</a:t>
            </a:r>
            <a:endParaRPr lang="en-US" sz="850" dirty="0"/>
          </a:p>
        </p:txBody>
      </p:sp>
      <p:pic>
        <p:nvPicPr>
          <p:cNvPr id="39" name="Image 2" descr="C:\Users\amine\AppData\Local\Temp\claude\D--stockage-emsi-4eme-Stage-E-learning\c3e9852d-391c-41a7-a591-9373ab8db47f\scratchpad\pptx-build\assets\shot_certific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567" y="2926080"/>
            <a:ext cx="2174966" cy="1691640"/>
          </a:xfrm>
          <a:prstGeom prst="rect">
            <a:avLst/>
          </a:prstGeom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pic>
      <p:sp>
        <p:nvSpPr>
          <p:cNvPr id="40" name="Text 35"/>
          <p:cNvSpPr/>
          <p:nvPr/>
        </p:nvSpPr>
        <p:spPr>
          <a:xfrm>
            <a:off x="6216127" y="4672584"/>
            <a:ext cx="23578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du certificat</a:t>
            </a:r>
            <a:endParaRPr lang="en-US" sz="850" dirty="0"/>
          </a:p>
        </p:txBody>
      </p:sp>
      <p:pic>
        <p:nvPicPr>
          <p:cNvPr id="41" name="Image 3" descr="C:\Users\amine\AppData\Local\Temp\claude\D--stockage-emsi-4eme-Stage-E-learning\c3e9852d-391c-41a7-a591-9373ab8db47f\scratchpad\pptx-build\assets\shot_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8565" y="2926080"/>
            <a:ext cx="2401037" cy="1691640"/>
          </a:xfrm>
          <a:prstGeom prst="rect">
            <a:avLst/>
          </a:prstGeom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pic>
      <p:sp>
        <p:nvSpPr>
          <p:cNvPr id="42" name="Text 36"/>
          <p:cNvSpPr/>
          <p:nvPr/>
        </p:nvSpPr>
        <p:spPr>
          <a:xfrm>
            <a:off x="8647125" y="4672584"/>
            <a:ext cx="25839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partagé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566928" y="5029200"/>
            <a:ext cx="11057839" cy="566928"/>
          </a:xfrm>
          <a:prstGeom prst="roundRect">
            <a:avLst>
              <a:gd name="adj" fmla="val 16129"/>
            </a:avLst>
          </a:prstGeom>
          <a:solidFill>
            <a:srgbClr val="FDF0E6"/>
          </a:solidFill>
          <a:ln w="12700">
            <a:solidFill>
              <a:srgbClr val="D4DEEB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886968" y="5029200"/>
            <a:ext cx="1041775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4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—  Scénario de secours : captures d'écran / vidéo pré-enregistrée en cas de problème réseau.</a:t>
            </a:r>
            <a:endParaRPr lang="en-US" sz="1150" dirty="0"/>
          </a:p>
        </p:txBody>
      </p:sp>
      <p:sp>
        <p:nvSpPr>
          <p:cNvPr id="45" name="Text 39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46" name="Text 40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techniques rencontrés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3472586" cy="1234440"/>
          </a:xfrm>
          <a:prstGeom prst="roundRect">
            <a:avLst>
              <a:gd name="adj" fmla="val 7407"/>
            </a:avLst>
          </a:prstGeom>
          <a:solidFill>
            <a:srgbClr val="FCEAEA"/>
          </a:solidFill>
          <a:ln w="12700">
            <a:solidFill>
              <a:srgbClr val="D4DE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975104"/>
            <a:ext cx="30702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" y="2212848"/>
            <a:ext cx="307025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LazyInitializationException Hibernate sur le rendu du badge.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20925" y="3099816"/>
            <a:ext cx="164592" cy="182880"/>
          </a:xfrm>
          <a:prstGeom prst="downArrow">
            <a:avLst/>
          </a:prstGeom>
          <a:solidFill>
            <a:srgbClr val="F5A623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3319272"/>
            <a:ext cx="3472586" cy="1234440"/>
          </a:xfrm>
          <a:prstGeom prst="roundRect">
            <a:avLst>
              <a:gd name="adj" fmla="val 7407"/>
            </a:avLst>
          </a:prstGeom>
          <a:solidFill>
            <a:srgbClr val="E6F5F0"/>
          </a:solidFill>
          <a:ln w="12700">
            <a:solidFill>
              <a:srgbClr val="D4DE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3465576"/>
            <a:ext cx="30702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" y="3703320"/>
            <a:ext cx="307025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 en initialisant les données nécessaires dans la transaction, avant sérialisation.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59554" y="1828800"/>
            <a:ext cx="3472586" cy="1234440"/>
          </a:xfrm>
          <a:prstGeom prst="roundRect">
            <a:avLst>
              <a:gd name="adj" fmla="val 7407"/>
            </a:avLst>
          </a:prstGeom>
          <a:solidFill>
            <a:srgbClr val="FCEAEA"/>
          </a:solidFill>
          <a:ln w="12700">
            <a:solidFill>
              <a:srgbClr val="D4DE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0722" y="1975104"/>
            <a:ext cx="30702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60722" y="2212848"/>
            <a:ext cx="307025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 sur le démarrage d'un quiz.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13552" y="3099816"/>
            <a:ext cx="164592" cy="182880"/>
          </a:xfrm>
          <a:prstGeom prst="downArrow">
            <a:avLst/>
          </a:prstGeom>
          <a:solidFill>
            <a:srgbClr val="F5A623"/>
          </a:solidFill>
          <a:ln/>
        </p:spPr>
      </p:sp>
      <p:sp>
        <p:nvSpPr>
          <p:cNvPr id="17" name="Shape 15"/>
          <p:cNvSpPr/>
          <p:nvPr/>
        </p:nvSpPr>
        <p:spPr>
          <a:xfrm>
            <a:off x="4359554" y="3319272"/>
            <a:ext cx="3472586" cy="1234440"/>
          </a:xfrm>
          <a:prstGeom prst="roundRect">
            <a:avLst>
              <a:gd name="adj" fmla="val 7407"/>
            </a:avLst>
          </a:prstGeom>
          <a:solidFill>
            <a:srgbClr val="E6F5F0"/>
          </a:solidFill>
          <a:ln w="12700">
            <a:solidFill>
              <a:srgbClr val="D4DE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60722" y="3465576"/>
            <a:ext cx="30702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60722" y="3703320"/>
            <a:ext cx="307025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Verrou transactionnel PostgreSQL — pg_advisory_xact_lock — empêche la double création de tentative.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52181" y="1828800"/>
            <a:ext cx="3472586" cy="1234440"/>
          </a:xfrm>
          <a:prstGeom prst="roundRect">
            <a:avLst>
              <a:gd name="adj" fmla="val 7407"/>
            </a:avLst>
          </a:prstGeom>
          <a:solidFill>
            <a:srgbClr val="FCEAEA"/>
          </a:solidFill>
          <a:ln w="12700">
            <a:solidFill>
              <a:srgbClr val="D4DE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3349" y="1975104"/>
            <a:ext cx="30702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53349" y="2212848"/>
            <a:ext cx="307025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 implicites (parcours autonome vs cohorte).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806178" y="3099816"/>
            <a:ext cx="164592" cy="182880"/>
          </a:xfrm>
          <a:prstGeom prst="downArrow">
            <a:avLst/>
          </a:prstGeom>
          <a:solidFill>
            <a:srgbClr val="F5A623"/>
          </a:solidFill>
          <a:ln/>
        </p:spPr>
      </p:sp>
      <p:sp>
        <p:nvSpPr>
          <p:cNvPr id="24" name="Shape 22"/>
          <p:cNvSpPr/>
          <p:nvPr/>
        </p:nvSpPr>
        <p:spPr>
          <a:xfrm>
            <a:off x="8152181" y="3319272"/>
            <a:ext cx="3472586" cy="1234440"/>
          </a:xfrm>
          <a:prstGeom prst="roundRect">
            <a:avLst>
              <a:gd name="adj" fmla="val 7407"/>
            </a:avLst>
          </a:prstGeom>
          <a:solidFill>
            <a:srgbClr val="E6F5F0"/>
          </a:solidFill>
          <a:ln w="12700">
            <a:solidFill>
              <a:srgbClr val="D4DE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53349" y="3465576"/>
            <a:ext cx="30702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53349" y="3703320"/>
            <a:ext cx="307025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Traduites en spécifications grâce à un lien constant avec l'équipe pédagogique.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4828032"/>
            <a:ext cx="11057839" cy="868680"/>
          </a:xfrm>
          <a:prstGeom prst="roundRect">
            <a:avLst>
              <a:gd name="adj" fmla="val 12632"/>
            </a:avLst>
          </a:prstGeom>
          <a:solidFill>
            <a:srgbClr val="142B4B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32688" y="495604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C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RETENUE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2688" y="5175504"/>
            <a:ext cx="103263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une vérification en conditions réelles révèle les problèmes de frontière entre couches.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stage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2558720" cy="1371600"/>
          </a:xfrm>
          <a:prstGeom prst="roundRect">
            <a:avLst>
              <a:gd name="adj" fmla="val 8000"/>
            </a:avLst>
          </a:prstGeom>
          <a:solidFill>
            <a:srgbClr val="142B4B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956816"/>
            <a:ext cx="255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724912"/>
            <a:ext cx="237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JPA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99968" y="1828800"/>
            <a:ext cx="2558720" cy="1371600"/>
          </a:xfrm>
          <a:prstGeom prst="roundRect">
            <a:avLst>
              <a:gd name="adj" fmla="val 8000"/>
            </a:avLst>
          </a:prstGeom>
          <a:solidFill>
            <a:srgbClr val="142B4B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99968" y="1956816"/>
            <a:ext cx="255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91408" y="2724912"/>
            <a:ext cx="237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contrôleurs REST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3008" y="1828800"/>
            <a:ext cx="2558720" cy="1371600"/>
          </a:xfrm>
          <a:prstGeom prst="roundRect">
            <a:avLst>
              <a:gd name="adj" fmla="val 8000"/>
            </a:avLst>
          </a:prstGeom>
          <a:solidFill>
            <a:srgbClr val="142B4B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3008" y="1956816"/>
            <a:ext cx="255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24448" y="2724912"/>
            <a:ext cx="237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d'accès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66047" y="1828800"/>
            <a:ext cx="2558720" cy="1371600"/>
          </a:xfrm>
          <a:prstGeom prst="roundRect">
            <a:avLst>
              <a:gd name="adj" fmla="val 8000"/>
            </a:avLst>
          </a:prstGeom>
          <a:solidFill>
            <a:srgbClr val="142B4B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66047" y="1956816"/>
            <a:ext cx="255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157487" y="2724912"/>
            <a:ext cx="237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566160"/>
            <a:ext cx="5300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86968" y="3822192"/>
            <a:ext cx="466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Apports techniques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86968" y="4343400"/>
            <a:ext cx="109728" cy="109728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1" name="Text 19"/>
          <p:cNvSpPr/>
          <p:nvPr/>
        </p:nvSpPr>
        <p:spPr>
          <a:xfrm>
            <a:off x="1115568" y="4270248"/>
            <a:ext cx="4431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domaine complexe : cursus, évaluation, progression.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6968" y="4800600"/>
            <a:ext cx="109728" cy="109728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3" name="Text 21"/>
          <p:cNvSpPr/>
          <p:nvPr/>
        </p:nvSpPr>
        <p:spPr>
          <a:xfrm>
            <a:off x="1115568" y="4727448"/>
            <a:ext cx="4431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IA résiliente à deux fournisseurs.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6968" y="5257800"/>
            <a:ext cx="109728" cy="109728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5" name="Text 23"/>
          <p:cNvSpPr/>
          <p:nvPr/>
        </p:nvSpPr>
        <p:spPr>
          <a:xfrm>
            <a:off x="1115568" y="5184648"/>
            <a:ext cx="4431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API à plusieurs niveaux (RBAC + propriété).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24448" y="3566160"/>
            <a:ext cx="5300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44488" y="3822192"/>
            <a:ext cx="466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Apports personnels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644488" y="4343400"/>
            <a:ext cx="109728" cy="109728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9" name="Text 27"/>
          <p:cNvSpPr/>
          <p:nvPr/>
        </p:nvSpPr>
        <p:spPr>
          <a:xfrm>
            <a:off x="6873088" y="4270248"/>
            <a:ext cx="4431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complète sur un projet réel.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44488" y="4800600"/>
            <a:ext cx="109728" cy="109728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31" name="Text 29"/>
          <p:cNvSpPr/>
          <p:nvPr/>
        </p:nvSpPr>
        <p:spPr>
          <a:xfrm>
            <a:off x="6873088" y="4727448"/>
            <a:ext cx="4431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l'analyse des besoins jusqu'au déploiement.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644488" y="5257800"/>
            <a:ext cx="109728" cy="109728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33" name="Text 31"/>
          <p:cNvSpPr/>
          <p:nvPr/>
        </p:nvSpPr>
        <p:spPr>
          <a:xfrm>
            <a:off x="6873088" y="5184648"/>
            <a:ext cx="4431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continu avec un métier non technique.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65760" cy="365760"/>
          </a:xfrm>
          <a:prstGeom prst="ellipse">
            <a:avLst/>
          </a:prstGeom>
          <a:ln w="19050">
            <a:solidFill>
              <a:srgbClr val="C97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assumées &amp; perspectives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530032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4DEEB"/>
            </a:solidFill>
            <a:prstDash val="solid"/>
          </a:ln>
          <a:effectLst>
            <a:outerShdw sx="100000" sy="100000" kx="0" ky="0" algn="bl" rotWithShape="0" blurRad="101600" dist="12700" dir="5400000">
              <a:srgbClr val="142B4B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2130552"/>
            <a:ext cx="466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4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LIMITES ASSUMÉES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86968" y="2578608"/>
            <a:ext cx="274320" cy="274320"/>
          </a:xfrm>
          <a:prstGeom prst="ellipse">
            <a:avLst/>
          </a:prstGeom>
          <a:solidFill>
            <a:srgbClr val="C45C1A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2514600"/>
            <a:ext cx="42213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 propriété incomplet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25880" y="2779776"/>
            <a:ext cx="422132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devoirs — documenté, pas encore exhaustif sur toutes les ressources.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86968" y="3675888"/>
            <a:ext cx="274320" cy="274320"/>
          </a:xfrm>
          <a:prstGeom prst="ellipse">
            <a:avLst/>
          </a:prstGeom>
          <a:solidFill>
            <a:srgbClr val="C45C1A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3611880"/>
            <a:ext cx="42213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Reprise après incident non automatisée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25880" y="3877056"/>
            <a:ext cx="422132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procédure de restauration scriptée à ce stade.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" y="4773168"/>
            <a:ext cx="274320" cy="274320"/>
          </a:xfrm>
          <a:prstGeom prst="ellipse">
            <a:avLst/>
          </a:prstGeom>
          <a:solidFill>
            <a:srgbClr val="C45C1A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4709160"/>
            <a:ext cx="42213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SUPPORT non attribuable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25880" y="4974336"/>
            <a:ext cx="422132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réel défini, mais non activable en l'état du MVP.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24448" y="1874520"/>
            <a:ext cx="5300320" cy="4160520"/>
          </a:xfrm>
          <a:prstGeom prst="roundRect">
            <a:avLst>
              <a:gd name="adj" fmla="val 2637"/>
            </a:avLst>
          </a:prstGeom>
          <a:solidFill>
            <a:srgbClr val="142B4B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44488" y="2130552"/>
            <a:ext cx="466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C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44488" y="2578608"/>
            <a:ext cx="274320" cy="27432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0" name="Text 18"/>
          <p:cNvSpPr/>
          <p:nvPr/>
        </p:nvSpPr>
        <p:spPr>
          <a:xfrm>
            <a:off x="7101688" y="2514600"/>
            <a:ext cx="420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une chaîne CI/CD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101688" y="2779776"/>
            <a:ext cx="4203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build, tests et déploiement à chaque livraison.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44488" y="3675888"/>
            <a:ext cx="274320" cy="27432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3" name="Text 21"/>
          <p:cNvSpPr/>
          <p:nvPr/>
        </p:nvSpPr>
        <p:spPr>
          <a:xfrm>
            <a:off x="7101688" y="3611880"/>
            <a:ext cx="420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complet en topologie cible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101688" y="3877056"/>
            <a:ext cx="4203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configuration Nginx cible documentée reste à opérer en production.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44488" y="4773168"/>
            <a:ext cx="274320" cy="274320"/>
          </a:xfrm>
          <a:prstGeom prst="ellipse">
            <a:avLst/>
          </a:prstGeom>
          <a:solidFill>
            <a:srgbClr val="E08D1B"/>
          </a:solidFill>
          <a:ln/>
        </p:spPr>
      </p:sp>
      <p:sp>
        <p:nvSpPr>
          <p:cNvPr id="26" name="Text 24"/>
          <p:cNvSpPr/>
          <p:nvPr/>
        </p:nvSpPr>
        <p:spPr>
          <a:xfrm>
            <a:off x="7101688" y="4709160"/>
            <a:ext cx="420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la génération par IA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01688" y="4974336"/>
            <a:ext cx="4203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des questions de quiz : autres contenus pédagogiques.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5943600" cy="5943600"/>
          </a:xfrm>
          <a:prstGeom prst="ellipse">
            <a:avLst/>
          </a:prstGeom>
          <a:solidFill>
            <a:srgbClr val="E08D1B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5029200" cy="5029200"/>
          </a:xfrm>
          <a:prstGeom prst="ellipse">
            <a:avLst/>
          </a:prstGeom>
          <a:solidFill>
            <a:srgbClr val="E08D1B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55448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400" kern="0" dirty="0">
                <a:solidFill>
                  <a:srgbClr val="FFC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71600" y="2697480"/>
            <a:ext cx="94484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vous remercie pour votre attention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3337560"/>
            <a:ext cx="8534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reste à votre disposition pour vos questions et pour une démonstration de l'application.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651760" y="4709160"/>
            <a:ext cx="688817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142B4B">
                <a:alpha val="16000"/>
              </a:srgbClr>
            </a:outerShdw>
          </a:effectLst>
        </p:spPr>
      </p:sp>
      <p:pic>
        <p:nvPicPr>
          <p:cNvPr id="8" name="Image 0" descr="C:\Users\amine\AppData\Local\Temp\claude\D--stockage-emsi-4eme-Stage-E-learning\c3e9852d-391c-41a7-a591-9373ab8db47f\scratchpad\pptx-build\assets\em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4960620"/>
            <a:ext cx="1510235" cy="365760"/>
          </a:xfrm>
          <a:prstGeom prst="rect">
            <a:avLst/>
          </a:prstGeom>
        </p:spPr>
      </p:pic>
      <p:pic>
        <p:nvPicPr>
          <p:cNvPr id="9" name="Image 1" descr="C:\Users\amine\AppData\Local\Temp\claude\D--stockage-emsi-4eme-Stage-E-learning\c3e9852d-391c-41a7-a591-9373ab8db47f\scratchpad\pptx-build\assets\logo_i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616" y="4860036"/>
            <a:ext cx="750119" cy="5669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95848" y="4837176"/>
            <a:ext cx="0" cy="612648"/>
          </a:xfrm>
          <a:prstGeom prst="line">
            <a:avLst/>
          </a:prstGeom>
          <a:noFill/>
          <a:ln w="12700">
            <a:solidFill>
              <a:srgbClr val="D4DE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0" y="594360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Charro  ·  Développement Digital et Systèmes d'Information — 4ᵉ année, EMSI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ACADEMY  ·  SOUTENANCE PFE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5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PFE — IAT Academy</dc:title>
  <dc:subject>PptxGenJS Presentation</dc:subject>
  <dc:creator>Amine Charro</dc:creator>
  <cp:lastModifiedBy>Amine Charro</cp:lastModifiedBy>
  <cp:revision>1</cp:revision>
  <dcterms:created xsi:type="dcterms:W3CDTF">2026-09-12T00:37:09Z</dcterms:created>
  <dcterms:modified xsi:type="dcterms:W3CDTF">2026-09-12T00:37:09Z</dcterms:modified>
</cp:coreProperties>
</file>